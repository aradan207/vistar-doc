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1695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 snapToObjects="1">
      <p:cViewPr varScale="1">
        <p:scale>
          <a:sx d="100" n="124"/>
          <a:sy d="100" n="124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23" Type="http://schemas.openxmlformats.org/officeDocument/2006/relationships/printerSettings" Target="printerSettings/printerSettings1.bin" /><Relationship Id="rId24" Type="http://schemas.openxmlformats.org/officeDocument/2006/relationships/presProps" Target="presProps.xml" /><Relationship Id="rId25" Type="http://schemas.openxmlformats.org/officeDocument/2006/relationships/viewProps" Target="viewProps.xml" /><Relationship Id="rId26" Type="http://schemas.openxmlformats.org/officeDocument/2006/relationships/theme" Target="theme/theme1.xml" /><Relationship Id="rId27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Ground the audience in the physical reality. This is a specific fleet of manufacturing and characterization equipment at the laboratory. The scale (2,800+ images across 30 PDFs) makes manual search impractical and keyword search unreliable.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core motivation. It is not about generating images – it is about retrieving the RIGHT existing image from thousands of candidates.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3 is critical: traditional OCR (Tesseract, Adobe) converts images to text but throws away the visual. A hydraulic schematic becomes meaningless when reduced to OCR text. Our system keeps the actual image and makes it searchable via VLM descriptions.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keyword approach fails silently. No error, just “no results.” This is a deliberate design choice over CLIP-style direct image embedding: VLM descriptions capture domain-specific details that generic image embeddings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two Python projects that share a filesystem interface. VLM-YOLO-Detector is GPU-intensive batch processing (run once). Agentic-RAG is real-time LLM inference (per-query).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Tell the audience: “This is the full picture. Every subsequent slide zooms into one part of this pipeline.”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VLM does not see images in isolation – it receives equipment type and page text as context. “Diagram” is useless; “hydraulic pump schematic for BOY 35 with port connections P, T, A, B” is searchable.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Without context, VLM descriptions are too generic to differentiate between 2,800 images. The 8 content types enable filtering: if a user asks for a “wiring diagram,” the system boosts schematics and penalizes photos.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fixed pipeline that always runs image search wastes compute on text-only questions. The agent reads the query and adapts. Think of it like an experienced technician who knows when to open the manual and when to search online.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tree structure is what makes this “agentic” rather than a chatbot. Context accumulation is critical: later nodes see everything earlier nodes discovered. This tree is what the UI visualizes in real-time.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through one cycle: LLM outputs JSON plan, tools execute in parallel, LLM extracts factual findings, check if enough to answer. Single agent vs. multi-agent was deliberate: multi-agent adds latency not justified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800-char chunks with 150 overlap. mxbai-embed-large-v1 for embedding, ms-marco-MiniLM-L-6-v2 for reranking. FAISS searches the entire index in milliseconds. The cross-encoder only processes 24 candidates.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BOY-35 schematic scores 49.2 (semantic 6.2 + PDF 30.0 + page 5.0 + type 8.0). A similar APSX-PIM schematic scores only 15.1: higher semantic similarity but zero PDF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1 was developed after evaluation showed the model adding correct but unsourced domain knowledge. Layer 3 addresses “lossy synthesis” – the LLM finds images but generates a text-only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UI is not cosmetic – it is a trust mechanism. Users need to understand WHY the system gave an answer and WHERE the information came from. The reasoning tree makes the system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to 3-4 minutes. Have queries pre-typed. Point out: tree building on canvas, tool selection differences between queries, embedded image + source citation.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a lab, equipment and software evolve at different rates. A new manual release should not require rewriting the AI system. The filesystem-based data contract is intentionally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CLIP embeddings are the biggest potential improvement. Confidence scoring is especially important for lab environments: a confidently wrong answer is more dangerous than an uncertain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 and A: “Scale to 100+ manuals?” Linear. “Non-English?” Multilingual embeddings. “Latency?” Under 100ms search + 5-15s generation. “Air-gapped?” Yes, all local via Ollama.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 sz="3600" b="1">
                <a:solidFill>
                  <a:srgbClr val="1565C0"/>
                </a:solidFill>
                <a:latin typeface="Segoe U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2000">
                <a:solidFill>
                  <a:srgbClr val="546E7A"/>
                </a:solidFill>
                <a:latin typeface="Segoe UI Light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565C0"/>
                </a:solidFill>
                <a:latin typeface="Segoe U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sz="3000" b="1">
                <a:solidFill>
                  <a:srgbClr val="1565C0"/>
                </a:solidFill>
                <a:latin typeface="Segoe U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565C0"/>
                </a:solidFill>
                <a:latin typeface="Segoe U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 sz="3000" b="1">
                <a:solidFill>
                  <a:srgbClr val="1565C0"/>
                </a:solidFill>
                <a:latin typeface="Segoe U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565C0"/>
                </a:solidFill>
                <a:latin typeface="Segoe U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3000" b="1">
                <a:solidFill>
                  <a:srgbClr val="1565C0"/>
                </a:solidFill>
                <a:latin typeface="Segoe U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3000" b="1">
                <a:solidFill>
                  <a:srgbClr val="1565C0"/>
                </a:solidFill>
                <a:latin typeface="Segoe U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6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11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Modular Multimodal RAG for Industrial Equipment Documentation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Autonomous Reasoning with Visual Understanding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February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Documentation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30+ PDF manuals, hundreds of pages each</a:t>
            </a:r>
          </a:p>
          <a:p>
            <a:pPr lvl="0"/>
            <a:r>
              <a:rPr/>
              <a:t>2,800+ images: diagrams, schematics, photos, tables</a:t>
            </a:r>
          </a:p>
          <a:p>
            <a:pPr lvl="0"/>
            <a:r>
              <a:rPr/>
              <a:t>16 equipment families across injection molding, thermal analysis, rheometry, spectroscopy</a:t>
            </a:r>
          </a:p>
          <a:p>
            <a:pPr lvl="0" indent="0" marL="0">
              <a:buNone/>
            </a:pPr>
            <a:r>
              <a:rPr/>
              <a:t>A technician troubleshooting a hydraulic issue needs the pump schematic – not a paragraph about it.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Technicians Actually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Text-Only RAG:</a:t>
            </a:r>
            <a:r>
              <a:rPr/>
              <a:t> Returns a paragraph describing the pump, then says “Refer to page 465 of the manual for the full schematic.” It tells you to look at the manual – which you were already doing.</a:t>
            </a:r>
          </a:p>
          <a:p>
            <a:pPr lvl="0" indent="0" marL="0">
              <a:buNone/>
            </a:pPr>
            <a:r>
              <a:rPr b="1"/>
              <a:t>Multimodal RAG:</a:t>
            </a:r>
            <a:r>
              <a:rPr/>
              <a:t> Returns the text explanation plus the actual schematic from page 465, with the source citation. The image IS the answer.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Current Approaches Fall Short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9100"/>
                <a:gridCol w="5270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Goes Wrong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Keyword Dependency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“pump diagram” misses “hydraulic_assembly_03.png”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Visual Understanding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Images stored as opaque blobs with filename-only metadata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OCR Loses Visuals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OCR extracts text but discards the image itself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Brittle Classification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 tagging – inconsistent across 2,800 images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Tight Coupling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Image logic embedded in main app – changes break everything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Semantic Gap</a:t>
            </a:r>
          </a:p>
        </p:txBody>
      </p:sp>
      <p:pic>
        <p:nvPicPr>
          <p:cNvPr descr="diagrams/slide05_semantic_gap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1676400"/>
            <a:ext cx="8229600" cy="386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Keyword matching fails silently while semantic search finds the correct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Vision-Language Model describes images in natural language. That text is embedded – richer and more searchable than raw image embeddings.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Decoupled Architecture</a:t>
            </a:r>
          </a:p>
        </p:txBody>
      </p:sp>
      <p:pic>
        <p:nvPicPr>
          <p:cNvPr descr="diagrams/slide06_two_servic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3441700"/>
            <a:ext cx="8229600" cy="33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Two-service architecture with shared data contract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Different compute profiles. Different update cycles. Same data contract. Updating the VLM requires zero changes to the reasoning engine.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Complete Pipeline: PDF to Answer</a:t>
            </a:r>
          </a:p>
        </p:txBody>
      </p:sp>
      <p:pic>
        <p:nvPicPr>
          <p:cNvPr descr="diagrams/slide07_pipelin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362200" y="1600200"/>
            <a:ext cx="44069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End-to-end pipeline: offline batch processing and online per-query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 = offline batch processing (run once per manual). Bottom = online per-query reasoning. The index in the middle connects them.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Three-Stage Vision Pipeline</a:t>
            </a:r>
          </a:p>
        </p:txBody>
      </p:sp>
      <p:pic>
        <p:nvPicPr>
          <p:cNvPr descr="diagrams/slide08_vlm_pipelin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1739900"/>
            <a:ext cx="8229600" cy="372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Three stages: Extract, Describe, Embed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Extract:</a:t>
            </a:r>
            <a:r>
              <a:rPr/>
              <a:t> PyMuPDF with raster + vector rendering, MD5 dedup. </a:t>
            </a:r>
            <a:r>
              <a:rPr b="1"/>
              <a:t>Describe:</a:t>
            </a:r>
            <a:r>
              <a:rPr/>
              <a:t> LLaVA 13B generates rich descriptions with equipment context. </a:t>
            </a:r>
            <a:r>
              <a:rPr b="1"/>
              <a:t>Embed:</a:t>
            </a:r>
            <a:r>
              <a:rPr/>
              <a:t> all-MiniLM-L6-v2 produces 384-dim vectors.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Context Changes Everything</a:t>
            </a:r>
          </a:p>
        </p:txBody>
      </p:sp>
      <p:pic>
        <p:nvPicPr>
          <p:cNvPr descr="diagrams/slide09_contex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390900" y="1600200"/>
            <a:ext cx="23749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Naive VLM produces generic descriptions; context-aware VLM produces specific 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 content types classified automatically: diagram, component, warning, procedure, specification, table, schematic, photo. The VLM adapts descriptions based on equipment family context.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Autonomous Agent Architecture</a:t>
            </a:r>
          </a:p>
        </p:txBody>
      </p:sp>
      <p:pic>
        <p:nvPicPr>
          <p:cNvPr descr="diagrams/slide10_fixed_vs_dynamic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2095500"/>
            <a:ext cx="8229600" cy="302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Fixed pipeline vs dynamic agent with runtime tool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LLM decides which tools to use at runtime – not a hard-coded if/else chain. Text-only questions use manual_search; visual requests add image_search in parallel; unknown topics trigger web_search.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Reasoning Tree</a:t>
            </a:r>
          </a:p>
        </p:txBody>
      </p:sp>
      <p:pic>
        <p:nvPicPr>
          <p:cNvPr descr="diagrams/slide11_reasoning_tre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822700" y="1600200"/>
            <a:ext cx="14859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Tree-of-thought reasoning structure with context accumulation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node stores: reasoning step, tool calls, synthesized result. Children inherit full parent context. Max depth 5. Most queries resolve in 2-3 steps.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Agent Execution Loop</a:t>
            </a:r>
          </a:p>
        </p:txBody>
      </p:sp>
      <p:pic>
        <p:nvPicPr>
          <p:cNvPr descr="diagrams/slide12_execution_loop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2870200"/>
            <a:ext cx="8229600" cy="147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Plan, Execute, Synthesize, Iterate, Finalize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Single agent (not multi-agent) to minimize latency. Parallel tool execution. JSON-structured outputs for auditability. FINALIZE: synthesis, self-critique, URL validation, image injection.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Two-Stage Text Retrieval</a:t>
            </a:r>
          </a:p>
        </p:txBody>
      </p:sp>
      <p:pic>
        <p:nvPicPr>
          <p:cNvPr descr="diagrams/slide13_two_stag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2324100"/>
            <a:ext cx="82296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FAISS fast retrieval followed by cross-encoder precise 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chapter intro scores high on embedding similarity but does not answer the question. The cross-encoder reads the full (query, chunk) pair and correctly ranks the spec table above the generic intro.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Image Search: Composite Scoring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Measures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Semantic Similarity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0-10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Query meaning vs VLM description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PDF Source Match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0-30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Correct machine manual?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Page Proximity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0-8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Near pages with text hits?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 Type Match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0-8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Image type matches request?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Layers of Answer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Self-Critique:</a:t>
            </a:r>
            <a:r>
              <a:rPr/>
              <a:t> Second LLM call strips claims not supported by retrieved context.</a:t>
            </a:r>
          </a:p>
          <a:p>
            <a:pPr lvl="0" indent="0" marL="0">
              <a:buNone/>
            </a:pPr>
            <a:r>
              <a:rPr b="1"/>
              <a:t>URL Validation:</a:t>
            </a:r>
            <a:r>
              <a:rPr/>
              <a:t> Post-processing removes hallucinated image paths.</a:t>
            </a:r>
          </a:p>
          <a:p>
            <a:pPr lvl="0" indent="0" marL="0">
              <a:buNone/>
            </a:pPr>
            <a:r>
              <a:rPr b="1"/>
              <a:t>Missing Image Injection:</a:t>
            </a:r>
            <a:r>
              <a:rPr/>
              <a:t> Walks reasoning tree; appends up to 3 relevant images the LLM forgot to include.</a:t>
            </a:r>
          </a:p>
          <a:p>
            <a:pPr lvl="0" indent="0" marL="0">
              <a:buNone/>
            </a:pPr>
            <a:r>
              <a:rPr/>
              <a:t>Result: 98% source accuracy across evaluations.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Interactive Reasoning UI</a:t>
            </a:r>
          </a:p>
        </p:txBody>
      </p:sp>
      <p:pic>
        <p:nvPicPr>
          <p:cNvPr descr="ui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22300" y="1600200"/>
            <a:ext cx="78994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Screenshot of the frontend showing reasoning tree, live stream, and answer with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Interactive reasoning tree (HTML5 Canvas) – Real-time thinking stream (SSE) – Node inspector for tool calls – Images embedded in answer – Source citations with PDF name and page number.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 Demonstration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Shows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“What is the EVV unit on the BOY 35?”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Text-only retrieval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“Show me the pump schematic”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Multimodal search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“Safety warnings for APSX-PIM?”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Different machine/type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Architecture Matters</a:t>
            </a:r>
          </a:p>
        </p:txBody>
      </p:sp>
      <p:pic>
        <p:nvPicPr>
          <p:cNvPr descr="diagrams/slide18_benefit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3416300"/>
            <a:ext cx="8229600" cy="38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Four architectural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Independent scaling, independent updates, failure isolation, technology freedom. New manual? Re-run pipeline. GPU server down? Text answers still work.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Near-Term:</a:t>
            </a:r>
            <a:r>
              <a:rPr/>
              <a:t> API integration (HTTP/gRPC). MCP Protocol for standardized tool-to-LLM communication.</a:t>
            </a:r>
          </a:p>
          <a:p>
            <a:pPr lvl="0" indent="0" marL="0">
              <a:buNone/>
            </a:pPr>
            <a:r>
              <a:rPr b="1"/>
              <a:t>Mid-Term:</a:t>
            </a:r>
            <a:r>
              <a:rPr/>
              <a:t> CLIP joint embeddings for direct image-to-query matching. Real-time indexing with watch-folder auto-pipeline.</a:t>
            </a:r>
          </a:p>
          <a:p>
            <a:pPr lvl="0" indent="0" marL="0">
              <a:buNone/>
            </a:pPr>
            <a:r>
              <a:rPr b="1"/>
              <a:t>Long-Term:</a:t>
            </a:r>
            <a:r>
              <a:rPr/>
              <a:t> Confidence scoring with uncertainty estimates. Multi-agent specialization for troubleshooting, maintenance, and safety.</a:t>
            </a:r>
          </a:p>
          <a:p>
            <a:pPr lvl="0" indent="0" marL="0">
              <a:buNone/>
            </a:pPr>
            <a:r>
              <a:rPr/>
              <a:t>All models run locally via Ollama – fully air-gapped operation.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Five Things to Remember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 b="1"/>
              <a:t>The problem is real.</a:t>
            </a:r>
            <a:r>
              <a:rPr/>
              <a:t> Manufacturing needs visual + textual answers.</a:t>
            </a:r>
          </a:p>
          <a:p>
            <a:pPr lvl="0" indent="-457200" marL="457200">
              <a:buAutoNum type="arabicPeriod"/>
            </a:pPr>
            <a:r>
              <a:rPr b="1"/>
              <a:t>Semantic understanding bridges the gap.</a:t>
            </a:r>
            <a:r>
              <a:rPr/>
              <a:t> VLM descriptions enable natural language image search.</a:t>
            </a:r>
          </a:p>
          <a:p>
            <a:pPr lvl="0" indent="-457200" marL="457200">
              <a:buAutoNum type="arabicPeriod"/>
            </a:pPr>
            <a:r>
              <a:rPr b="1"/>
              <a:t>Autonomous reasoning adapts.</a:t>
            </a:r>
            <a:r>
              <a:rPr/>
              <a:t> Tree-of-thought planning, not a fixed pipeline.</a:t>
            </a:r>
          </a:p>
          <a:p>
            <a:pPr lvl="0" indent="-457200" marL="457200">
              <a:buAutoNum type="arabicPeriod"/>
            </a:pPr>
            <a:r>
              <a:rPr b="1"/>
              <a:t>Modularity enables evolution.</a:t>
            </a:r>
            <a:r>
              <a:rPr/>
              <a:t> Vision and reasoning components evolve separately.</a:t>
            </a:r>
          </a:p>
          <a:p>
            <a:pPr lvl="0" indent="-457200" marL="457200">
              <a:buAutoNum type="arabicPeriod"/>
            </a:pPr>
            <a:r>
              <a:rPr b="1"/>
              <a:t>Transparency builds trust.</a:t>
            </a:r>
            <a:r>
              <a:rPr/>
              <a:t> Reasoning tree, citations, image provenance.</a:t>
            </a:r>
          </a:p>
          <a:p>
            <a:pPr lvl="0" indent="0" marL="0">
              <a:buNone/>
            </a:pPr>
            <a:r>
              <a:rPr/>
              <a:t>“From keyword search to semantic understanding – multimodal RAG that works the way technicians think.”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Modular Multimodal RAG for Industrial Equipment Documentation</dc:title>
  <dc:creator/>
  <cp:keywords/>
  <dcterms:created xsi:type="dcterms:W3CDTF">2026-02-24T20:50:35Z</dcterms:created>
  <dcterms:modified xsi:type="dcterms:W3CDTF">2026-02-24T20:50:35Z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February 2026</vt:lpwstr>
  </property>
  <property fmtid="{D5CDD505-2E9C-101B-9397-08002B2CF9AE}" pid="3" name="subtitle">
    <vt:lpwstr>Autonomous Reasoning with Visual Understanding</vt:lpwstr>
  </property>
</Properties>
</file>